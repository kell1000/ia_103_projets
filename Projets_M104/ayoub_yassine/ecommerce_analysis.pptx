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moyen (€)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VIP</c:v>
                  </c:pt>
                  <c:pt idx="1">
                    <c:v>Loyal</c:v>
                  </c:pt>
                  <c:pt idx="2">
                    <c:v>Regular</c:v>
                  </c:pt>
                  <c:pt idx="3">
                    <c:v>At Risk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4479.71</c:v>
                </c:pt>
                <c:pt idx="1">
                  <c:v>1248.94</c:v>
                </c:pt>
                <c:pt idx="2">
                  <c:v>676.23</c:v>
                </c:pt>
                <c:pt idx="3">
                  <c:v>429.39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Commandes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UK</c:v>
                  </c:pt>
                  <c:pt idx="1">
                    <c:v>Germany</c:v>
                  </c:pt>
                  <c:pt idx="2">
                    <c:v>France</c:v>
                  </c:pt>
                  <c:pt idx="3">
                    <c:v>EIRE</c:v>
                  </c:pt>
                  <c:pt idx="4">
                    <c:v>Netherlands</c:v>
                  </c:pt>
                  <c:pt idx="5">
                    <c:v>Spain</c:v>
                  </c:pt>
                  <c:pt idx="6">
                    <c:v>Belgium</c:v>
                  </c:pt>
                  <c:pt idx="7">
                    <c:v>Switzerland</c:v>
                  </c:pt>
                  <c:pt idx="8">
                    <c:v>Portugal</c:v>
                  </c:pt>
                  <c:pt idx="9">
                    <c:v>Australia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300281</c:v>
                </c:pt>
                <c:pt idx="1">
                  <c:v>9292</c:v>
                </c:pt>
                <c:pt idx="2">
                  <c:v>8557</c:v>
                </c:pt>
                <c:pt idx="3">
                  <c:v>8196</c:v>
                </c:pt>
                <c:pt idx="4">
                  <c:v>2371</c:v>
                </c:pt>
                <c:pt idx="5">
                  <c:v>2533</c:v>
                </c:pt>
                <c:pt idx="6">
                  <c:v>2069</c:v>
                </c:pt>
                <c:pt idx="7">
                  <c:v>1002</c:v>
                </c:pt>
                <c:pt idx="8">
                  <c:v>1519</c:v>
                </c:pt>
                <c:pt idx="9">
                  <c:v>1259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560320" cy="256032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182880"/>
            <a:ext cx="1645920" cy="164592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SCIENCE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E-Commerce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Dataset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· Segmentation RFM · Test Khi-deux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097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541 909 transactions  |  38 pays  |  Python · Pandas · Plotly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6400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données, objectifs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118872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188720"/>
            <a:ext cx="6400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55848" y="1737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des Données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2148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Doublons, valeurs manquantes, outliers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118872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188720"/>
            <a:ext cx="6400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0216" y="1737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0216" y="2148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TotalPrice, catégories, zones géographiques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6400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1480" y="34747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RFM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8862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client en 4 groupes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18688" y="292608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8688" y="2926080"/>
            <a:ext cx="6400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55848" y="34747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Khi-deux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55848" y="38862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catégorie × zone géographique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63056" y="292608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63056" y="2926080"/>
            <a:ext cx="6400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00216" y="34747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0216" y="38862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clés &amp; recommandations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PRÉSENTATION DU PROJET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Online Retail Dataset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de cadeaux UK (2010–2011)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B2B &amp; B2C, livraisons internationales
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 et préparer les données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features métier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Segmenter les clients via RFM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l'indépendance catégorie/zone
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182880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541 909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brutes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051560"/>
            <a:ext cx="182880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5800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880360"/>
            <a:ext cx="182880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2880360"/>
            <a:ext cx="182880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4 373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uniques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NETTOYAGE DES DONNÉES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52144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124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supprimés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dupliquées retirées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92240" y="1143000"/>
            <a:ext cx="20116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5 268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1819656"/>
            <a:ext cx="8595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9202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1892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/ Quantité négatifs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18541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&amp; anomalies filtrés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1911096"/>
            <a:ext cx="20116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9110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" y="2587752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68833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6609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29535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manquants → lignes supprimées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2679192"/>
            <a:ext cx="20116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6791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4320" y="3355848"/>
            <a:ext cx="8595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45643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429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(IQR)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721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1.5×IQR appliquée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3447288"/>
            <a:ext cx="20116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4472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+ Prix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74320" y="4123944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22452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5840" y="41970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final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05840" y="448970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propres conservées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4215384"/>
            <a:ext cx="20116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42153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333 234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FEATURE ENGINEERING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TotalPrice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53896"/>
            <a:ext cx="14630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538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× UnitPrice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0" y="12161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par ligne de commande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1965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19656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92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221992"/>
            <a:ext cx="14630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21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catégories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19842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Gifts, Floral, Kitchenware, Christmas…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587752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87752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609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2990088"/>
            <a:ext cx="14630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900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/ Europe / ROW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275234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90.1% UK · 7.6% Europe · 2.3% Reste du monde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35584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355848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TotalInvoice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3758184"/>
            <a:ext cx="14630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581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InvoiceNo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3520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totale par commande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123944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123944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970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Scores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4526280"/>
            <a:ext cx="14630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526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+ F + M (1–5)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0" y="428853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comportementale client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SEGMENTATION RFM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468880" cy="1097280"/>
          </a:xfrm>
          <a:prstGeom prst="rect">
            <a:avLst/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depuis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 achat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468880" cy="1097280"/>
          </a:xfrm>
          <a:prstGeom prst="rect">
            <a:avLst/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05156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069080" y="10972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9080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468880" cy="1097280"/>
          </a:xfrm>
          <a:prstGeom prst="rect">
            <a:avLst/>
          </a:prstGeom>
          <a:solidFill>
            <a:srgbClr val="0F2D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05156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903720" y="10972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03720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total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2011680" cy="2468880"/>
          </a:xfrm>
          <a:prstGeom prst="rect">
            <a:avLst/>
          </a:prstGeom>
          <a:solidFill>
            <a:srgbClr val="0F2D4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331720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441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337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7432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 du total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069080"/>
            <a:ext cx="15544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moy: 4 479 €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50592" y="2331720"/>
            <a:ext cx="2011680" cy="2468880"/>
          </a:xfrm>
          <a:prstGeom prst="rect">
            <a:avLst/>
          </a:prstGeom>
          <a:solidFill>
            <a:srgbClr val="0F2D4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50592" y="233172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0592" y="2441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50592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1 043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450592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50592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25.3% du total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79192" y="4069080"/>
            <a:ext cx="15544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9192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moy: 1 249 €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26864" y="2331720"/>
            <a:ext cx="2011680" cy="2468880"/>
          </a:xfrm>
          <a:prstGeom prst="rect">
            <a:avLst/>
          </a:prstGeom>
          <a:solidFill>
            <a:srgbClr val="0F2D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26864" y="2331720"/>
            <a:ext cx="20116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26864" y="2441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26864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1 135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26864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26864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 du total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55464" y="4069080"/>
            <a:ext cx="15544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55464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moy: 676 €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03136" y="2331720"/>
            <a:ext cx="2011680" cy="2468880"/>
          </a:xfrm>
          <a:prstGeom prst="rect">
            <a:avLst/>
          </a:prstGeom>
          <a:solidFill>
            <a:srgbClr val="0F2D4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03136" y="2331720"/>
            <a:ext cx="201168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3136" y="2441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⚠️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03136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1 676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6803136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03136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40.6% du total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031736" y="4069080"/>
            <a:ext cx="15544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31736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moy: 429 €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RFM — CA MOYEN PAR SEGMENT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0292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05840"/>
            <a:ext cx="3200400" cy="3749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CLÉS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33872" y="16916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9904" y="16642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VIP (8%) génèrent un CA 10× supérieur aux clients At Risk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33872" y="244144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9904" y="24140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des clients sont en zone de risque → priorité CRM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33872" y="319125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9904" y="316382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RFM 555 = meilleure fidélité (récence + fréquence + valeur)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33872" y="394106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9904" y="39136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337 VIP à fidéliser en priorité absolue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de revenus : Nov (642 k€) · Oct (524 k€) · Déc (461 k€)  →  saisonnalité forte fin d'année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TEST KHI-DEUX — Catégorie × Zone Géographique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 ⊥ zone géographique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significative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5%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005840"/>
          <a:ext cx="4754880" cy="155448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observé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2 840.70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Degrés de liberté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critique (α=5%)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de Cramér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2697480"/>
            <a:ext cx="8595360" cy="731520"/>
          </a:xfrm>
          <a:prstGeom prst="rect">
            <a:avLst/>
          </a:prstGeom>
          <a:solidFill>
            <a:srgbClr val="ECFDF5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VERDICT : H₀ rejetée au seuil 0.1% — Dépendance TRÈS FORTEMENT significative entre catégorie et zone géo.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" y="3566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géographique des transactions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3977640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397764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0050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5720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18688" y="3977640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18688" y="397764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01568" y="40050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401568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63056" y="3977640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63056" y="3977640"/>
            <a:ext cx="54864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45936" y="40050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345936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du monde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TOP 10 PAYS PAR COMMANDES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8412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TOP CATÉGORIES PRODUITS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0" y="1143000"/>
            <a:ext cx="59436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247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Gifts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95360" y="11430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71 325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636776"/>
            <a:ext cx="3116671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184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 &amp; Romance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8431" y="16367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37 401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130552"/>
            <a:ext cx="3062089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122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&amp; Wrap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13849" y="21305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36 746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2624328"/>
            <a:ext cx="300492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060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Bags &amp; Accessories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56684" y="26243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36 060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3118104"/>
            <a:ext cx="2816179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998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Decor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67939" y="31181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33 795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3611880"/>
            <a:ext cx="220902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5935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 &amp; Lighting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0788" y="3611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26 509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4105656"/>
            <a:ext cx="2060115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0873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Kitchenware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11875" y="41056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24 722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0" y="4599432"/>
            <a:ext cx="151371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5811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Baking &amp; Kitchen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65472" y="45994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18 165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45720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CONCLUSIONS &amp; RECOMMANDATIONS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1600200"/>
          </a:xfrm>
          <a:prstGeom prst="rect">
            <a:avLst/>
          </a:prstGeom>
          <a:solidFill>
            <a:srgbClr val="0F2D4A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188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Fidéliser les VIP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337 clients VIP génèrent 4 479 € en moyenne. Programme de fidélité premium prioritaire.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14800" cy="1600200"/>
          </a:xfrm>
          <a:prstGeom prst="rect">
            <a:avLst/>
          </a:prstGeom>
          <a:solidFill>
            <a:srgbClr val="0F2D4A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1188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Réactiver l'At 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45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1 676 clients (40%) en zone de risque. Campagnes de re-engagement ciblées nécessaires.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1600200"/>
          </a:xfrm>
          <a:prstGeom prst="rect">
            <a:avLst/>
          </a:prstGeom>
          <a:solidFill>
            <a:srgbClr val="0F2D4A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3063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l'Europe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7.6% des transactions. Fort potentiel de croissance sur les marchés européens.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4114800" cy="1600200"/>
          </a:xfrm>
          <a:prstGeom prst="rect">
            <a:avLst/>
          </a:prstGeom>
          <a:solidFill>
            <a:srgbClr val="0F2D4A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94960" y="3063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Capitaliser la saisonnalité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520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fort Oct–Nov. Planifier stocks et campagnes marketing dès septembre.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E-Commerce · Online Retail Dataset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7772400" cy="182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46120"/>
            <a:ext cx="1051560" cy="320040"/>
          </a:xfrm>
          <a:prstGeom prst="rect">
            <a:avLst/>
          </a:prstGeom>
          <a:solidFill>
            <a:srgbClr val="0F2D4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37360" y="3246120"/>
            <a:ext cx="1051560" cy="320040"/>
          </a:xfrm>
          <a:prstGeom prst="rect">
            <a:avLst/>
          </a:prstGeom>
          <a:solidFill>
            <a:srgbClr val="0F2D4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32461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0" y="3246120"/>
            <a:ext cx="1051560" cy="320040"/>
          </a:xfrm>
          <a:prstGeom prst="rect">
            <a:avLst/>
          </a:prstGeom>
          <a:solidFill>
            <a:srgbClr val="0F2D4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32461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0" y="3246120"/>
            <a:ext cx="1051560" cy="320040"/>
          </a:xfrm>
          <a:prstGeom prst="rect">
            <a:avLst/>
          </a:prstGeom>
          <a:solidFill>
            <a:srgbClr val="0F2D4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32461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0" y="3246120"/>
            <a:ext cx="1051560" cy="320040"/>
          </a:xfrm>
          <a:prstGeom prst="rect">
            <a:avLst/>
          </a:prstGeom>
          <a:solidFill>
            <a:srgbClr val="0F2D4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32461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0" y="3246120"/>
            <a:ext cx="1051560" cy="320040"/>
          </a:xfrm>
          <a:prstGeom prst="rect">
            <a:avLst/>
          </a:prstGeom>
          <a:solidFill>
            <a:srgbClr val="0F2D4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2461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80960" y="3246120"/>
            <a:ext cx="1051560" cy="320040"/>
          </a:xfrm>
          <a:prstGeom prst="rect">
            <a:avLst/>
          </a:prstGeom>
          <a:solidFill>
            <a:srgbClr val="0F2D4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32461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333 234 lignes · 4 173 clients · 13 catégories · 3 zones géographiques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E-Commerce - Online Retail</dc:title>
  <dc:subject>PptxGenJS Presentation</dc:subject>
  <dc:creator>PptxGenJS</dc:creator>
  <cp:lastModifiedBy>PptxGenJS</cp:lastModifiedBy>
  <cp:revision>1</cp:revision>
  <dcterms:created xsi:type="dcterms:W3CDTF">2026-04-14T07:55:22Z</dcterms:created>
  <dcterms:modified xsi:type="dcterms:W3CDTF">2026-04-14T07:55:22Z</dcterms:modified>
</cp:coreProperties>
</file>